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16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12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17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87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54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77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626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9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45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2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6529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029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2990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3395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016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0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62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7" r:id="rId1"/>
    <p:sldLayoutId id="2147484418" r:id="rId2"/>
    <p:sldLayoutId id="2147484419" r:id="rId3"/>
    <p:sldLayoutId id="2147484420" r:id="rId4"/>
    <p:sldLayoutId id="2147484421" r:id="rId5"/>
    <p:sldLayoutId id="2147484422" r:id="rId6"/>
    <p:sldLayoutId id="2147484423" r:id="rId7"/>
    <p:sldLayoutId id="2147484424" r:id="rId8"/>
    <p:sldLayoutId id="2147484425" r:id="rId9"/>
    <p:sldLayoutId id="2147484426" r:id="rId10"/>
    <p:sldLayoutId id="2147484427" r:id="rId11"/>
    <p:sldLayoutId id="2147484428" r:id="rId12"/>
    <p:sldLayoutId id="2147484429" r:id="rId13"/>
    <p:sldLayoutId id="2147484430" r:id="rId14"/>
    <p:sldLayoutId id="2147484431" r:id="rId15"/>
    <p:sldLayoutId id="214748443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3" name="Subtítulo 2">
            <a:extLst>
              <a:ext uri="{FF2B5EF4-FFF2-40B4-BE49-F238E27FC236}">
                <a16:creationId xmlns:a16="http://schemas.microsoft.com/office/drawing/2014/main" id="{A8C33554-5502-B645-D889-366A14A18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2255" y="4428066"/>
            <a:ext cx="7766936" cy="1591733"/>
          </a:xfrm>
        </p:spPr>
        <p:txBody>
          <a:bodyPr>
            <a:normAutofit/>
          </a:bodyPr>
          <a:lstStyle/>
          <a:p>
            <a:pPr algn="l">
              <a:spcBef>
                <a:spcPct val="0"/>
              </a:spcBef>
            </a:pPr>
            <a:r>
              <a:rPr lang="pt-BR" sz="2400" b="1" dirty="0">
                <a:solidFill>
                  <a:schemeClr val="accent1"/>
                </a:solidFill>
                <a:latin typeface="Avenir Next LT Pro" panose="020B0504020202020204" pitchFamily="34" charset="0"/>
                <a:ea typeface="+mj-ea"/>
                <a:cs typeface="+mj-cs"/>
              </a:rPr>
              <a:t>Matheus </a:t>
            </a:r>
            <a:r>
              <a:rPr lang="pt-BR" sz="2400" b="1" dirty="0" err="1">
                <a:solidFill>
                  <a:schemeClr val="accent1"/>
                </a:solidFill>
                <a:latin typeface="Avenir Next LT Pro" panose="020B0504020202020204" pitchFamily="34" charset="0"/>
                <a:ea typeface="+mj-ea"/>
                <a:cs typeface="+mj-cs"/>
              </a:rPr>
              <a:t>Condino</a:t>
            </a:r>
            <a:endParaRPr lang="pt-BR" sz="2400" b="1" dirty="0">
              <a:solidFill>
                <a:schemeClr val="accent1"/>
              </a:solidFill>
              <a:latin typeface="Avenir Next LT Pro" panose="020B0504020202020204" pitchFamily="34" charset="0"/>
              <a:ea typeface="+mj-ea"/>
              <a:cs typeface="+mj-cs"/>
            </a:endParaRPr>
          </a:p>
          <a:p>
            <a:pPr algn="l">
              <a:spcBef>
                <a:spcPct val="0"/>
              </a:spcBef>
            </a:pPr>
            <a:r>
              <a:rPr lang="pt-BR" sz="2400" b="1" dirty="0">
                <a:solidFill>
                  <a:schemeClr val="accent1"/>
                </a:solidFill>
                <a:latin typeface="Avenir Next LT Pro" panose="020B0504020202020204" pitchFamily="34" charset="0"/>
                <a:ea typeface="+mj-ea"/>
                <a:cs typeface="+mj-cs"/>
              </a:rPr>
              <a:t>Giovanni Villela </a:t>
            </a:r>
          </a:p>
          <a:p>
            <a:pPr algn="l">
              <a:spcBef>
                <a:spcPct val="0"/>
              </a:spcBef>
            </a:pPr>
            <a:r>
              <a:rPr lang="pt-BR" sz="2400" b="1" dirty="0">
                <a:solidFill>
                  <a:schemeClr val="accent1"/>
                </a:solidFill>
                <a:latin typeface="Avenir Next LT Pro" panose="020B0504020202020204" pitchFamily="34" charset="0"/>
                <a:ea typeface="+mj-ea"/>
                <a:cs typeface="+mj-cs"/>
              </a:rPr>
              <a:t>Mateus Peçanha</a:t>
            </a:r>
          </a:p>
          <a:p>
            <a:pPr algn="l">
              <a:spcBef>
                <a:spcPct val="0"/>
              </a:spcBef>
            </a:pPr>
            <a:r>
              <a:rPr lang="pt-BR" sz="2400" b="1" dirty="0">
                <a:solidFill>
                  <a:schemeClr val="accent1"/>
                </a:solidFill>
                <a:latin typeface="Avenir Next LT Pro" panose="020B0504020202020204" pitchFamily="34" charset="0"/>
                <a:ea typeface="+mj-ea"/>
                <a:cs typeface="+mj-cs"/>
              </a:rPr>
              <a:t>Pedro Torres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101630-811D-3038-2D99-DD6018DA8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2993" y="626151"/>
            <a:ext cx="7766936" cy="2963716"/>
          </a:xfrm>
        </p:spPr>
        <p:txBody>
          <a:bodyPr>
            <a:normAutofit/>
          </a:bodyPr>
          <a:lstStyle/>
          <a:p>
            <a:pPr algn="l"/>
            <a:r>
              <a:rPr lang="pt-BR" b="1" dirty="0">
                <a:latin typeface="Avenir Next LT Pro" panose="020B0504020202020204" pitchFamily="34" charset="0"/>
              </a:rPr>
              <a:t>Sistema de Horas acadêmicas complementares</a:t>
            </a:r>
          </a:p>
        </p:txBody>
      </p:sp>
    </p:spTree>
    <p:extLst>
      <p:ext uri="{BB962C8B-B14F-4D97-AF65-F5344CB8AC3E}">
        <p14:creationId xmlns:p14="http://schemas.microsoft.com/office/powerpoint/2010/main" val="24990209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8937CAD3-F566-D06C-976C-4EC55979E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485" y="186266"/>
            <a:ext cx="4326110" cy="1117602"/>
          </a:xfrm>
        </p:spPr>
        <p:txBody>
          <a:bodyPr>
            <a:normAutofit fontScale="90000"/>
          </a:bodyPr>
          <a:lstStyle/>
          <a:p>
            <a:r>
              <a:rPr lang="pt-BR" sz="5400" b="1" dirty="0">
                <a:latin typeface="Avenir Next LT Pro" panose="020B0504020202020204" pitchFamily="34" charset="0"/>
              </a:rPr>
              <a:t>5w2h</a:t>
            </a:r>
            <a:br>
              <a:rPr lang="pt-BR" sz="5400" b="1" dirty="0">
                <a:latin typeface="Avenir Next LT Pro" panose="020B0504020202020204" pitchFamily="34" charset="0"/>
              </a:rPr>
            </a:br>
            <a:r>
              <a:rPr lang="pt-BR" sz="2700" b="1" dirty="0">
                <a:latin typeface="Avenir Next LT Pro" panose="020B0504020202020204" pitchFamily="34" charset="0"/>
              </a:rPr>
              <a:t>Visão Geral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6BF13E2D-EDA2-139A-02C1-1C9EACF54C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0548968"/>
              </p:ext>
            </p:extLst>
          </p:nvPr>
        </p:nvGraphicFramePr>
        <p:xfrm>
          <a:off x="658485" y="1554048"/>
          <a:ext cx="8596312" cy="4918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3466487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20094290"/>
                    </a:ext>
                  </a:extLst>
                </a:gridCol>
              </a:tblGrid>
              <a:tr h="529545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Questão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Resposta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828560"/>
                  </a:ext>
                </a:extLst>
              </a:tr>
              <a:tr h="52954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What</a:t>
                      </a:r>
                      <a:r>
                        <a:rPr lang="pt-BR" dirty="0"/>
                        <a:t> ( O que deve ser feito ) ?</a:t>
                      </a:r>
                    </a:p>
                    <a:p>
                      <a:endParaRPr lang="pt-BR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Desenvolvimento de um sistema para gerenciamento de atividades acadêmicas complementares para a instituição IBMEC</a:t>
                      </a:r>
                      <a:endParaRPr lang="pt-BR" sz="1400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946326"/>
                  </a:ext>
                </a:extLst>
              </a:tr>
              <a:tr h="529545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Why</a:t>
                      </a:r>
                      <a:r>
                        <a:rPr lang="pt-BR" dirty="0"/>
                        <a:t> ( Por que isso será Feito ) ?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Para melhorar o controle e validação das horas complementares, reduzindo os processos manuais e aumentando a eficiência </a:t>
                      </a:r>
                      <a:br>
                        <a:rPr lang="pt-BR" dirty="0"/>
                      </a:b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259187"/>
                  </a:ext>
                </a:extLst>
              </a:tr>
              <a:tr h="529545">
                <a:tc>
                  <a:txBody>
                    <a:bodyPr/>
                    <a:lstStyle/>
                    <a:p>
                      <a:r>
                        <a:rPr lang="pt-BR" dirty="0"/>
                        <a:t>Where ( onde será feito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sistema será desenvolvido remotamente pelos integrantes e utilizado na instituição IBMEC.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01339"/>
                  </a:ext>
                </a:extLst>
              </a:tr>
              <a:tr h="529545">
                <a:tc>
                  <a:txBody>
                    <a:bodyPr/>
                    <a:lstStyle/>
                    <a:p>
                      <a:r>
                        <a:rPr lang="pt-BR" dirty="0"/>
                        <a:t>When ( quando será feito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Durante o primeiro semestre de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743883"/>
                  </a:ext>
                </a:extLst>
              </a:tr>
              <a:tr h="533218">
                <a:tc>
                  <a:txBody>
                    <a:bodyPr/>
                    <a:lstStyle/>
                    <a:p>
                      <a:r>
                        <a:rPr lang="pt-BR" dirty="0"/>
                        <a:t>Who ( quem irá fazer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Matheus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Condino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Mateus de Mendonça Peçanha, Pedro Torres, Giovanni Villela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12728"/>
                  </a:ext>
                </a:extLst>
              </a:tr>
              <a:tr h="529545">
                <a:tc>
                  <a:txBody>
                    <a:bodyPr/>
                    <a:lstStyle/>
                    <a:p>
                      <a:r>
                        <a:rPr lang="pt-BR" dirty="0" err="1"/>
                        <a:t>How</a:t>
                      </a:r>
                      <a:r>
                        <a:rPr lang="pt-BR" dirty="0"/>
                        <a:t> ( como será feito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Utilizando metodologia RUP/UP e ferramentas como Python,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Vscode</a:t>
                      </a:r>
                      <a:endParaRPr lang="pt-B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557625"/>
                  </a:ext>
                </a:extLst>
              </a:tr>
              <a:tr h="529545">
                <a:tc>
                  <a:txBody>
                    <a:bodyPr/>
                    <a:lstStyle/>
                    <a:p>
                      <a:r>
                        <a:rPr lang="pt-BR" dirty="0" err="1"/>
                        <a:t>How</a:t>
                      </a:r>
                      <a:r>
                        <a:rPr lang="pt-BR" dirty="0"/>
                        <a:t> Much ( quanto Custará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 custo do projeto será o tempo e esforço para o desenvolvimento da aplicação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29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380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C806A6-9EF6-7619-83B7-4BB6E5221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7">
            <a:extLst>
              <a:ext uri="{FF2B5EF4-FFF2-40B4-BE49-F238E27FC236}">
                <a16:creationId xmlns:a16="http://schemas.microsoft.com/office/drawing/2014/main" id="{5D5E1AB6-64BF-609A-3582-4C2A53639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C848A7-B779-F78C-B912-F5919E9D5D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818D9B9-D946-FC9A-55D2-3EB8CBCCC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11">
              <a:extLst>
                <a:ext uri="{FF2B5EF4-FFF2-40B4-BE49-F238E27FC236}">
                  <a16:creationId xmlns:a16="http://schemas.microsoft.com/office/drawing/2014/main" id="{A7DE4CA6-D626-980B-4C1A-86DE75D0B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6EB708F5-93E8-B025-4737-FEF5F3AF6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973B0DC8-6876-8411-3AA4-EBA85FBEF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Isosceles Triangle 14">
              <a:extLst>
                <a:ext uri="{FF2B5EF4-FFF2-40B4-BE49-F238E27FC236}">
                  <a16:creationId xmlns:a16="http://schemas.microsoft.com/office/drawing/2014/main" id="{1437F9B1-9048-CEF0-826C-6EDC5D438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0E83AF52-8838-81BC-0775-4100D2713E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78494F8C-FC9E-1DFD-EB82-165AEF4BBC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39338A65-6AC6-9516-4F9D-6F71E542C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72F78026-6447-B672-B850-9B154D7DEC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Isosceles Triangle 19">
              <a:extLst>
                <a:ext uri="{FF2B5EF4-FFF2-40B4-BE49-F238E27FC236}">
                  <a16:creationId xmlns:a16="http://schemas.microsoft.com/office/drawing/2014/main" id="{13543ADA-2030-81BA-9452-DB77697D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8D2E51C-6E91-0487-A7DA-D803AA7DC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925" y="101599"/>
            <a:ext cx="8689975" cy="1295401"/>
          </a:xfrm>
        </p:spPr>
        <p:txBody>
          <a:bodyPr>
            <a:normAutofit fontScale="90000"/>
          </a:bodyPr>
          <a:lstStyle/>
          <a:p>
            <a:r>
              <a:rPr lang="pt-BR" sz="5400" b="1" dirty="0">
                <a:latin typeface="Avenir Next LT Pro" panose="020B0504020202020204" pitchFamily="34" charset="0"/>
              </a:rPr>
              <a:t>5w2h</a:t>
            </a:r>
            <a:br>
              <a:rPr lang="pt-BR" sz="5400" b="1" dirty="0">
                <a:latin typeface="Avenir Next LT Pro" panose="020B0504020202020204" pitchFamily="34" charset="0"/>
              </a:rPr>
            </a:br>
            <a:r>
              <a:rPr lang="pt-BR" sz="2700" b="1" dirty="0">
                <a:latin typeface="Avenir Next LT Pro" panose="020B0504020202020204" pitchFamily="34" charset="0"/>
              </a:rPr>
              <a:t>Visão produto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35330E9F-33CC-E432-AC8C-EFBB982A44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180280"/>
              </p:ext>
            </p:extLst>
          </p:nvPr>
        </p:nvGraphicFramePr>
        <p:xfrm>
          <a:off x="460593" y="1285523"/>
          <a:ext cx="8596312" cy="54708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34664879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20094290"/>
                    </a:ext>
                  </a:extLst>
                </a:gridCol>
              </a:tblGrid>
              <a:tr h="719446"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Questão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solidFill>
                            <a:schemeClr val="bg2"/>
                          </a:solidFill>
                        </a:rPr>
                        <a:t>Resposta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828560"/>
                  </a:ext>
                </a:extLst>
              </a:tr>
              <a:tr h="110361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What</a:t>
                      </a:r>
                      <a:r>
                        <a:rPr lang="pt-BR" dirty="0"/>
                        <a:t> ( O que deve ser feito ) ?</a:t>
                      </a:r>
                    </a:p>
                    <a:p>
                      <a:endParaRPr lang="pt-BR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Sistema Back-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que permite cadastro de atividades complementares, envio de comprovante e controle de horas acumuladas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946326"/>
                  </a:ext>
                </a:extLst>
              </a:tr>
              <a:tr h="84893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err="1"/>
                        <a:t>Why</a:t>
                      </a:r>
                      <a:r>
                        <a:rPr lang="pt-BR" dirty="0"/>
                        <a:t> ( Por que isso será Feito ) ?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Oferecer uma solução eficiente na gestão das atividades complementares dos alunos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259187"/>
                  </a:ext>
                </a:extLst>
              </a:tr>
              <a:tr h="491632">
                <a:tc>
                  <a:txBody>
                    <a:bodyPr/>
                    <a:lstStyle/>
                    <a:p>
                      <a:r>
                        <a:rPr lang="pt-BR" dirty="0"/>
                        <a:t>Where ( onde será feito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 um servidor Back-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end</a:t>
                      </a:r>
                      <a:endParaRPr lang="pt-B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201339"/>
                  </a:ext>
                </a:extLst>
              </a:tr>
              <a:tr h="594253">
                <a:tc>
                  <a:txBody>
                    <a:bodyPr/>
                    <a:lstStyle/>
                    <a:p>
                      <a:r>
                        <a:rPr lang="pt-BR" dirty="0"/>
                        <a:t>When ( quando será feito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Após o termino do desenvolvimento no primeiro semestre de 2026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743883"/>
                  </a:ext>
                </a:extLst>
              </a:tr>
              <a:tr h="524494">
                <a:tc>
                  <a:txBody>
                    <a:bodyPr/>
                    <a:lstStyle/>
                    <a:p>
                      <a:r>
                        <a:rPr lang="pt-BR" dirty="0"/>
                        <a:t>Who ( quem irá fazer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Matheus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Condino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Mateus de Mendonça Peçanha, Pedro Torres, Giovanni Villela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12728"/>
                  </a:ext>
                </a:extLst>
              </a:tr>
              <a:tr h="594253">
                <a:tc>
                  <a:txBody>
                    <a:bodyPr/>
                    <a:lstStyle/>
                    <a:p>
                      <a:r>
                        <a:rPr lang="pt-BR" dirty="0" err="1"/>
                        <a:t>How</a:t>
                      </a:r>
                      <a:r>
                        <a:rPr lang="pt-BR" dirty="0"/>
                        <a:t> ( como será feito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Matheus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Condino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Mateus de Mendonça Peçanha, Pedro Torres, Giovanni Villela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557625"/>
                  </a:ext>
                </a:extLst>
              </a:tr>
              <a:tr h="594253">
                <a:tc>
                  <a:txBody>
                    <a:bodyPr/>
                    <a:lstStyle/>
                    <a:p>
                      <a:r>
                        <a:rPr lang="pt-BR" dirty="0" err="1"/>
                        <a:t>How</a:t>
                      </a:r>
                      <a:r>
                        <a:rPr lang="pt-BR" dirty="0"/>
                        <a:t> Much ( quanto Custará )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Utilizando metodologia RUP/UP e ferramentas como Python,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</a:t>
                      </a:r>
                      <a:r>
                        <a:rPr lang="pt-B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pt-B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Vscode</a:t>
                      </a:r>
                      <a:endParaRPr lang="pt-BR" sz="14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29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311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DD9BA72-F524-A7D4-931D-9B8C4567A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55" y="-8469"/>
            <a:ext cx="8596668" cy="1320800"/>
          </a:xfrm>
        </p:spPr>
        <p:txBody>
          <a:bodyPr>
            <a:normAutofit/>
          </a:bodyPr>
          <a:lstStyle/>
          <a:p>
            <a:r>
              <a:rPr lang="pt-BR" sz="4900" b="1" dirty="0">
                <a:latin typeface="Avenir Next LT Pro" panose="020B0504020202020204" pitchFamily="34" charset="0"/>
              </a:rPr>
              <a:t>Brainstorm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5085F2-CEA0-A119-950C-CD876E5B5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65" y="1554827"/>
            <a:ext cx="8596668" cy="5066106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Ideais centrais do sistema:</a:t>
            </a:r>
            <a:br>
              <a:rPr lang="pt-BR" dirty="0"/>
            </a:br>
            <a:br>
              <a:rPr lang="pt-BR" dirty="0"/>
            </a:br>
            <a:r>
              <a:rPr lang="pt-BR" dirty="0"/>
              <a:t>• Sistema para registro, validação e acompanhamento de atividades complementares </a:t>
            </a:r>
          </a:p>
          <a:p>
            <a:r>
              <a:rPr lang="pt-BR" dirty="0"/>
              <a:t>• Separação entre: Atividades internas / Atividades externas </a:t>
            </a:r>
          </a:p>
          <a:p>
            <a:r>
              <a:rPr lang="pt-BR" dirty="0"/>
              <a:t>• Controle automático de horas obrigatórias do curso</a:t>
            </a:r>
          </a:p>
          <a:p>
            <a:endParaRPr lang="pt-BR" dirty="0"/>
          </a:p>
          <a:p>
            <a:r>
              <a:rPr lang="pt-BR" b="1" dirty="0"/>
              <a:t>Sistema:</a:t>
            </a:r>
          </a:p>
          <a:p>
            <a:endParaRPr lang="pt-BR" dirty="0"/>
          </a:p>
          <a:p>
            <a:r>
              <a:rPr lang="pt-BR" dirty="0"/>
              <a:t>• Armazenamento de comprovantes </a:t>
            </a:r>
          </a:p>
          <a:p>
            <a:r>
              <a:rPr lang="pt-BR" dirty="0"/>
              <a:t>• Controle de limites por tipo de atividade</a:t>
            </a:r>
          </a:p>
          <a:p>
            <a:r>
              <a:rPr lang="pt-BR" dirty="0"/>
              <a:t> • Histórico completo do aluno </a:t>
            </a:r>
            <a:br>
              <a:rPr lang="pt-BR" dirty="0"/>
            </a:br>
            <a:endParaRPr lang="pt-BR" dirty="0"/>
          </a:p>
          <a:p>
            <a:r>
              <a:rPr lang="pt-BR" dirty="0"/>
              <a:t>Regras gerais</a:t>
            </a:r>
          </a:p>
          <a:p>
            <a:r>
              <a:rPr lang="pt-BR" dirty="0"/>
              <a:t> • Atividades são obrigatórias para colação de grau</a:t>
            </a:r>
          </a:p>
          <a:p>
            <a:r>
              <a:rPr lang="pt-BR" dirty="0"/>
              <a:t> • Devem ser feitas durante o curso </a:t>
            </a:r>
          </a:p>
          <a:p>
            <a:r>
              <a:rPr lang="pt-BR" dirty="0"/>
              <a:t>• Estágio obrigatório e TCC não contam 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4603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770DA-2A38-C8B0-DD2E-B88D26CCE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7">
            <a:extLst>
              <a:ext uri="{FF2B5EF4-FFF2-40B4-BE49-F238E27FC236}">
                <a16:creationId xmlns:a16="http://schemas.microsoft.com/office/drawing/2014/main" id="{C7714ECA-33AF-062D-CC2F-82CF2D72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7E913A-46C4-FCD9-AA51-5C898DDFA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B85F1F7-28B7-F455-8459-E3D32FE13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11">
              <a:extLst>
                <a:ext uri="{FF2B5EF4-FFF2-40B4-BE49-F238E27FC236}">
                  <a16:creationId xmlns:a16="http://schemas.microsoft.com/office/drawing/2014/main" id="{8AE35ED9-847C-CFB1-FF0F-288C1B72B5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C557D40D-D3E5-8177-C423-31697A395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7EECF4D2-AFD0-140F-B5E2-42CFF9A161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Isosceles Triangle 14">
              <a:extLst>
                <a:ext uri="{FF2B5EF4-FFF2-40B4-BE49-F238E27FC236}">
                  <a16:creationId xmlns:a16="http://schemas.microsoft.com/office/drawing/2014/main" id="{1860F6E1-985A-91FA-8C87-509D679135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9A38FE97-63B9-8916-744A-9EC162C5BB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F9A133DE-8094-54F2-B2BA-F80D70CED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352EA7DD-09A6-606B-7DE6-8B7B65F6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8B021AA8-BB42-1A71-8226-5BB4D6C70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Isosceles Triangle 19">
              <a:extLst>
                <a:ext uri="{FF2B5EF4-FFF2-40B4-BE49-F238E27FC236}">
                  <a16:creationId xmlns:a16="http://schemas.microsoft.com/office/drawing/2014/main" id="{81FABBBE-37EE-30B3-3769-CB4FD6CD3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1699308-A6CE-13F7-B3A7-8041610F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55" y="-8469"/>
            <a:ext cx="8596668" cy="1320800"/>
          </a:xfrm>
        </p:spPr>
        <p:txBody>
          <a:bodyPr>
            <a:normAutofit/>
          </a:bodyPr>
          <a:lstStyle/>
          <a:p>
            <a:r>
              <a:rPr lang="pt-BR" sz="4900" b="1" dirty="0">
                <a:latin typeface="Avenir Next LT Pro" panose="020B0504020202020204" pitchFamily="34" charset="0"/>
              </a:rPr>
              <a:t>Brainstorm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5D7A35-D12C-F034-1595-6F8D17822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733" y="1480147"/>
            <a:ext cx="8596668" cy="5066106"/>
          </a:xfrm>
        </p:spPr>
        <p:txBody>
          <a:bodyPr>
            <a:normAutofit/>
          </a:bodyPr>
          <a:lstStyle/>
          <a:p>
            <a:r>
              <a:rPr lang="pt-BR" b="1" dirty="0"/>
              <a:t>Controle de horas </a:t>
            </a:r>
          </a:p>
          <a:p>
            <a:r>
              <a:rPr lang="pt-BR" dirty="0"/>
              <a:t>• Sistema deve: Somar horas automaticamente Respeitar limites por atividade</a:t>
            </a:r>
          </a:p>
          <a:p>
            <a:r>
              <a:rPr lang="pt-BR" dirty="0"/>
              <a:t> Exemplos: </a:t>
            </a:r>
          </a:p>
          <a:p>
            <a:r>
              <a:rPr lang="pt-BR" dirty="0"/>
              <a:t>• Evento → máximo 10h por evento </a:t>
            </a:r>
          </a:p>
          <a:p>
            <a:r>
              <a:rPr lang="pt-BR" dirty="0"/>
              <a:t>• Idiomas → máximo 30h total</a:t>
            </a:r>
          </a:p>
          <a:p>
            <a:r>
              <a:rPr lang="pt-BR" dirty="0"/>
              <a:t>• Estágio → limite por semestre </a:t>
            </a:r>
          </a:p>
          <a:p>
            <a:r>
              <a:rPr lang="pt-BR" dirty="0"/>
              <a:t>• Mesário → até 80h total </a:t>
            </a:r>
          </a:p>
          <a:p>
            <a:endParaRPr lang="pt-BR" dirty="0"/>
          </a:p>
          <a:p>
            <a:r>
              <a:rPr lang="pt-BR" b="1" dirty="0"/>
              <a:t>Validação:</a:t>
            </a:r>
          </a:p>
          <a:p>
            <a:r>
              <a:rPr lang="pt-BR" dirty="0"/>
              <a:t>• Internas → validadas automaticamente pela instituição </a:t>
            </a:r>
          </a:p>
          <a:p>
            <a:r>
              <a:rPr lang="pt-BR" dirty="0"/>
              <a:t>• Externas → precisam de: Documento</a:t>
            </a:r>
          </a:p>
        </p:txBody>
      </p:sp>
    </p:spTree>
    <p:extLst>
      <p:ext uri="{BB962C8B-B14F-4D97-AF65-F5344CB8AC3E}">
        <p14:creationId xmlns:p14="http://schemas.microsoft.com/office/powerpoint/2010/main" val="1698045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51925EE-1A2D-7766-F783-BD7EB02B0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203045" cy="1808480"/>
          </a:xfrm>
        </p:spPr>
        <p:txBody>
          <a:bodyPr anchor="ctr">
            <a:norm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 </a:t>
            </a:r>
            <a:r>
              <a:rPr lang="pt-BR" sz="3200" b="1" dirty="0">
                <a:solidFill>
                  <a:schemeClr val="bg1"/>
                </a:solidFill>
              </a:rPr>
              <a:t>Mapa Mental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1CC27B9-7E14-3CB3-EB4E-957385A2E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6561" y="-26617"/>
            <a:ext cx="7285308" cy="6884614"/>
          </a:xfrm>
          <a:prstGeom prst="rect">
            <a:avLst/>
          </a:prstGeom>
        </p:spPr>
      </p:pic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8194" name="Picture 2" descr="View jonh-carvalho's full-sized avatar">
            <a:extLst>
              <a:ext uri="{FF2B5EF4-FFF2-40B4-BE49-F238E27FC236}">
                <a16:creationId xmlns:a16="http://schemas.microsoft.com/office/drawing/2014/main" id="{47CAB0D8-7267-E3FF-FFE8-C57F16A12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" y="6722867"/>
            <a:ext cx="135130" cy="135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402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5FD03D76-812E-4100-59B5-C6527C5E7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" y="898852"/>
            <a:ext cx="3905250" cy="116205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0353C943-F52F-7ED2-1844-DBB5EEB7C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5" y="2244090"/>
            <a:ext cx="5410200" cy="1638300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4A89A968-2F1D-F4DA-D001-98540E0D3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35" y="4254500"/>
            <a:ext cx="7515225" cy="2209800"/>
          </a:xfrm>
          <a:prstGeom prst="rect">
            <a:avLst/>
          </a:prstGeom>
        </p:spPr>
      </p:pic>
      <p:sp>
        <p:nvSpPr>
          <p:cNvPr id="28" name="CaixaDeTexto 27">
            <a:extLst>
              <a:ext uri="{FF2B5EF4-FFF2-40B4-BE49-F238E27FC236}">
                <a16:creationId xmlns:a16="http://schemas.microsoft.com/office/drawing/2014/main" id="{C87A1F66-D1D9-100E-3E30-FB91609C7F60}"/>
              </a:ext>
            </a:extLst>
          </p:cNvPr>
          <p:cNvSpPr txBox="1"/>
          <p:nvPr/>
        </p:nvSpPr>
        <p:spPr>
          <a:xfrm>
            <a:off x="332370" y="67855"/>
            <a:ext cx="2817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Protótipos de baixa Fidelidade</a:t>
            </a:r>
          </a:p>
        </p:txBody>
      </p:sp>
    </p:spTree>
    <p:extLst>
      <p:ext uri="{BB962C8B-B14F-4D97-AF65-F5344CB8AC3E}">
        <p14:creationId xmlns:p14="http://schemas.microsoft.com/office/powerpoint/2010/main" val="2207024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EECF264-7786-8593-60CE-C257FF958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10068"/>
            <a:ext cx="9070802" cy="550332"/>
          </a:xfrm>
        </p:spPr>
        <p:txBody>
          <a:bodyPr>
            <a:normAutofit fontScale="90000"/>
          </a:bodyPr>
          <a:lstStyle/>
          <a:p>
            <a:r>
              <a:rPr lang="pt-BR" sz="4900" b="1" dirty="0">
                <a:latin typeface="Avenir Next LT Pro" panose="020B0504020202020204" pitchFamily="34" charset="0"/>
              </a:rPr>
              <a:t>Levantamento de Requisitos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E683BCA3-BE4A-FB1B-A784-2E3660C8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7" y="863601"/>
            <a:ext cx="8991601" cy="5884332"/>
          </a:xfrm>
        </p:spPr>
        <p:txBody>
          <a:bodyPr>
            <a:normAutofit fontScale="77500" lnSpcReduction="20000"/>
          </a:bodyPr>
          <a:lstStyle/>
          <a:p>
            <a:pPr fontAlgn="base"/>
            <a:r>
              <a:rPr lang="pt-BR" dirty="0"/>
              <a:t>1 Identificação dos Stakeholders</a:t>
            </a:r>
          </a:p>
          <a:p>
            <a:r>
              <a:rPr lang="pt-BR" dirty="0"/>
              <a:t>Aluno: Aluno irá entrar e cadastrar sua atividade </a:t>
            </a:r>
            <a:br>
              <a:rPr lang="pt-BR" dirty="0"/>
            </a:br>
            <a:r>
              <a:rPr lang="pt-BR" dirty="0" err="1"/>
              <a:t>Cordenação</a:t>
            </a:r>
            <a:r>
              <a:rPr lang="pt-BR" dirty="0"/>
              <a:t>: Irá avaliar e aprovar a atividade do aluno</a:t>
            </a:r>
          </a:p>
          <a:p>
            <a:endParaRPr lang="pt-BR" dirty="0"/>
          </a:p>
          <a:p>
            <a:pPr fontAlgn="base"/>
            <a:r>
              <a:rPr lang="pt-BR" dirty="0"/>
              <a:t>2 Requisitos Funcionais</a:t>
            </a:r>
          </a:p>
          <a:p>
            <a:r>
              <a:rPr lang="pt-BR" dirty="0"/>
              <a:t>Cadastro de atividades externas: O Sistema deve permitir que o aluno envie documentos para comprovar atividades fora da instituição.</a:t>
            </a:r>
          </a:p>
          <a:p>
            <a:r>
              <a:rPr lang="pt-BR" dirty="0"/>
              <a:t> - Cadastro de atividades internas: O Sistema deve automaticamente identificar atividades internas. </a:t>
            </a:r>
          </a:p>
          <a:p>
            <a:r>
              <a:rPr lang="pt-BR" dirty="0"/>
              <a:t>Visualização de Horas : O aluno deve ter acesso total à quantidade de horas registradas no total em atividades externas e internas.</a:t>
            </a:r>
          </a:p>
          <a:p>
            <a:r>
              <a:rPr lang="pt-BR" dirty="0"/>
              <a:t> Classificar atividades por tipo: O Sistema deve categorizar as atividade em diferentes eixos (curso, palestra, evento, etc.) </a:t>
            </a:r>
          </a:p>
          <a:p>
            <a:r>
              <a:rPr lang="pt-BR" dirty="0"/>
              <a:t>Fazer login de alunos e coordenação O sistema deve permitir o login de usuários</a:t>
            </a:r>
          </a:p>
          <a:p>
            <a:r>
              <a:rPr lang="pt-BR" dirty="0"/>
              <a:t> Visualização de atividades cadastradas: O Aluno deve ter acesso total à visualização das atividades registradas</a:t>
            </a:r>
          </a:p>
          <a:p>
            <a:endParaRPr lang="pt-BR" dirty="0"/>
          </a:p>
          <a:p>
            <a:r>
              <a:rPr lang="pt-BR" dirty="0"/>
              <a:t>3 Requisitos Não Funcionais</a:t>
            </a:r>
          </a:p>
          <a:p>
            <a:r>
              <a:rPr lang="pt-BR" dirty="0"/>
              <a:t>Armazenamento de arquivos: O Sistema deve possuir a capacidade de armazenar arquivos </a:t>
            </a:r>
            <a:r>
              <a:rPr lang="pt-BR" dirty="0" err="1"/>
              <a:t>pdf</a:t>
            </a:r>
            <a:r>
              <a:rPr lang="pt-BR" dirty="0"/>
              <a:t>, </a:t>
            </a:r>
            <a:r>
              <a:rPr lang="pt-BR" dirty="0" err="1"/>
              <a:t>imágens</a:t>
            </a:r>
            <a:r>
              <a:rPr lang="pt-BR" dirty="0"/>
              <a:t>, etc.</a:t>
            </a:r>
          </a:p>
          <a:p>
            <a:r>
              <a:rPr lang="pt-BR" dirty="0"/>
              <a:t> O sistema deve ser seguro, protegendo os dados dos alunos: O Sistema deve garantir a segurança dos dados do usuário. </a:t>
            </a:r>
          </a:p>
          <a:p>
            <a:r>
              <a:rPr lang="pt-BR" dirty="0"/>
              <a:t>Sistema deve estar disponível 24 horas por dia: O sistema deve estar disponível indefinidamente, com os servidores abertos. Interface deve ser fácil de usar O Sistema deve </a:t>
            </a:r>
            <a:r>
              <a:rPr lang="pt-BR" dirty="0" err="1"/>
              <a:t>possúir</a:t>
            </a:r>
            <a:r>
              <a:rPr lang="pt-BR" dirty="0"/>
              <a:t> boa usabilidade.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9753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7">
            <a:extLst>
              <a:ext uri="{FF2B5EF4-FFF2-40B4-BE49-F238E27FC236}">
                <a16:creationId xmlns:a16="http://schemas.microsoft.com/office/drawing/2014/main" id="{86C16C40-7C29-4ACC-B851-7E08E459B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48049AD-9827-49E8-8BF5-32E175C8E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AA99CFD-13BA-4D43-8274-E720ACDBE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11">
              <a:extLst>
                <a:ext uri="{FF2B5EF4-FFF2-40B4-BE49-F238E27FC236}">
                  <a16:creationId xmlns:a16="http://schemas.microsoft.com/office/drawing/2014/main" id="{946D58D6-64B0-4752-8159-24114F47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23">
              <a:extLst>
                <a:ext uri="{FF2B5EF4-FFF2-40B4-BE49-F238E27FC236}">
                  <a16:creationId xmlns:a16="http://schemas.microsoft.com/office/drawing/2014/main" id="{C16801F7-F15E-4355-8767-26487BA8B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6" name="Rectangle 25">
              <a:extLst>
                <a:ext uri="{FF2B5EF4-FFF2-40B4-BE49-F238E27FC236}">
                  <a16:creationId xmlns:a16="http://schemas.microsoft.com/office/drawing/2014/main" id="{14FF0578-E224-4225-8396-B99D4881F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7" name="Isosceles Triangle 14">
              <a:extLst>
                <a:ext uri="{FF2B5EF4-FFF2-40B4-BE49-F238E27FC236}">
                  <a16:creationId xmlns:a16="http://schemas.microsoft.com/office/drawing/2014/main" id="{4642C0E0-9644-41F1-8CF3-33779AA8A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8" name="Rectangle 27">
              <a:extLst>
                <a:ext uri="{FF2B5EF4-FFF2-40B4-BE49-F238E27FC236}">
                  <a16:creationId xmlns:a16="http://schemas.microsoft.com/office/drawing/2014/main" id="{5F77D9D3-628A-4607-B307-91AAA5603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9" name="Rectangle 28">
              <a:extLst>
                <a:ext uri="{FF2B5EF4-FFF2-40B4-BE49-F238E27FC236}">
                  <a16:creationId xmlns:a16="http://schemas.microsoft.com/office/drawing/2014/main" id="{0600759E-C22E-4F3D-8569-0DE8F1D49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0" name="Rectangle 29">
              <a:extLst>
                <a:ext uri="{FF2B5EF4-FFF2-40B4-BE49-F238E27FC236}">
                  <a16:creationId xmlns:a16="http://schemas.microsoft.com/office/drawing/2014/main" id="{9A4E951D-EAB0-4F6B-84AE-B5B25684FD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B953BEA8-1B45-419E-BACD-49DB8888B1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41" name="Isosceles Triangle 19">
              <a:extLst>
                <a:ext uri="{FF2B5EF4-FFF2-40B4-BE49-F238E27FC236}">
                  <a16:creationId xmlns:a16="http://schemas.microsoft.com/office/drawing/2014/main" id="{72B7FA08-1FF3-4AED-B4E9-587D81D6B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1E7A5C9-721F-A6B5-B21C-2A71F3730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96" y="143933"/>
            <a:ext cx="8596668" cy="609600"/>
          </a:xfrm>
        </p:spPr>
        <p:txBody>
          <a:bodyPr>
            <a:normAutofit fontScale="90000"/>
          </a:bodyPr>
          <a:lstStyle/>
          <a:p>
            <a:r>
              <a:rPr lang="pt-BR" sz="4400" b="1" dirty="0">
                <a:latin typeface="Avenir Next LT Pro" panose="020B0504020202020204" pitchFamily="34" charset="0"/>
              </a:rPr>
              <a:t>Casos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166B12-CE62-C9AE-996C-6B6757B5A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807" y="845078"/>
            <a:ext cx="8596668" cy="5797021"/>
          </a:xfrm>
        </p:spPr>
        <p:txBody>
          <a:bodyPr>
            <a:noAutofit/>
          </a:bodyPr>
          <a:lstStyle/>
          <a:p>
            <a:r>
              <a:rPr lang="pt-BR" sz="1200" b="1" dirty="0">
                <a:solidFill>
                  <a:srgbClr val="C00000"/>
                </a:solidFill>
              </a:rPr>
              <a:t>UC01</a:t>
            </a:r>
            <a:r>
              <a:rPr lang="pt-BR" sz="1200" dirty="0"/>
              <a:t> – Realizar Login</a:t>
            </a:r>
          </a:p>
          <a:p>
            <a:r>
              <a:rPr lang="pt-BR" sz="1200" dirty="0"/>
              <a:t>Ator: Aluno/Admin</a:t>
            </a:r>
          </a:p>
          <a:p>
            <a:r>
              <a:rPr lang="pt-BR" sz="1200" dirty="0"/>
              <a:t>Descrição: Permite acesso ao sistema </a:t>
            </a:r>
          </a:p>
          <a:p>
            <a:r>
              <a:rPr lang="pt-BR" sz="1200" dirty="0"/>
              <a:t>Fluxo: Usuário insere login e senha, Sistema valida credenciais, Sistema libera acesso </a:t>
            </a:r>
          </a:p>
          <a:p>
            <a:r>
              <a:rPr lang="pt-BR" sz="1200" b="1" dirty="0">
                <a:solidFill>
                  <a:srgbClr val="C00000"/>
                </a:solidFill>
              </a:rPr>
              <a:t>UC02</a:t>
            </a:r>
            <a:r>
              <a:rPr lang="pt-BR" sz="1200" dirty="0"/>
              <a:t> – Cadastrar Atividade Externa</a:t>
            </a:r>
          </a:p>
          <a:p>
            <a:r>
              <a:rPr lang="pt-BR" sz="1200" dirty="0"/>
              <a:t> Ator: Aluno </a:t>
            </a:r>
          </a:p>
          <a:p>
            <a:r>
              <a:rPr lang="pt-BR" sz="1200" dirty="0"/>
              <a:t>Fluxo: Aluno acessa área de atividades, Preenche dados (tipo, carga horária, descrição), Anexa comprovante, Envia solicitação Sistema e salva como “pendente” </a:t>
            </a:r>
          </a:p>
          <a:p>
            <a:r>
              <a:rPr lang="pt-BR" sz="1200" b="1" dirty="0">
                <a:solidFill>
                  <a:srgbClr val="C00000"/>
                </a:solidFill>
              </a:rPr>
              <a:t>UC03</a:t>
            </a:r>
            <a:r>
              <a:rPr lang="pt-BR" sz="1200" dirty="0"/>
              <a:t> – Validar Atividade</a:t>
            </a:r>
          </a:p>
          <a:p>
            <a:r>
              <a:rPr lang="pt-BR" sz="1200" dirty="0"/>
              <a:t>Ator: Administrador</a:t>
            </a:r>
          </a:p>
          <a:p>
            <a:r>
              <a:rPr lang="pt-BR" sz="1200" dirty="0"/>
              <a:t>Fluxo: Admin acessa atividades pendentes, Analisa comprovante, Aprova ou rejeita, Sistema atualiza status e Sistema contabiliza horas (se aprovado) </a:t>
            </a:r>
          </a:p>
          <a:p>
            <a:r>
              <a:rPr lang="pt-BR" sz="1200" dirty="0">
                <a:solidFill>
                  <a:srgbClr val="C00000"/>
                </a:solidFill>
              </a:rPr>
              <a:t>UC04</a:t>
            </a:r>
            <a:r>
              <a:rPr lang="pt-BR" sz="1200" dirty="0"/>
              <a:t> – Consultar Horas</a:t>
            </a:r>
          </a:p>
          <a:p>
            <a:r>
              <a:rPr lang="pt-BR" sz="1200" dirty="0"/>
              <a:t> Ator: Aluno</a:t>
            </a:r>
          </a:p>
          <a:p>
            <a:r>
              <a:rPr lang="pt-BR" sz="1200" dirty="0"/>
              <a:t>Fluxo: Aluno acessa dashboard</a:t>
            </a:r>
          </a:p>
          <a:p>
            <a:r>
              <a:rPr lang="pt-BR" sz="1200" dirty="0"/>
              <a:t> Sistema exibe: Total de horas, Progresso, Lista de atividades</a:t>
            </a:r>
          </a:p>
          <a:p>
            <a:r>
              <a:rPr lang="pt-BR" sz="1200" dirty="0">
                <a:solidFill>
                  <a:srgbClr val="C00000"/>
                </a:solidFill>
              </a:rPr>
              <a:t>UC05</a:t>
            </a:r>
            <a:r>
              <a:rPr lang="pt-BR" sz="1200" dirty="0"/>
              <a:t> – Cadastrar Atividade Interna</a:t>
            </a:r>
          </a:p>
          <a:p>
            <a:r>
              <a:rPr lang="pt-BR" sz="1200" dirty="0"/>
              <a:t>Ator: Administrador</a:t>
            </a:r>
          </a:p>
          <a:p>
            <a:r>
              <a:rPr lang="pt-BR" sz="1200" dirty="0"/>
              <a:t>Fluxo: Admin cria atividade, Admin cria atividade, Define carga horária, Associa alunos participantes, Sistema lança horas automaticamente</a:t>
            </a: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br>
              <a:rPr lang="pt-BR" sz="1200" dirty="0"/>
            </a:b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622495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0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1" name="Isosceles Triangle 70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2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3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4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75" name="Isosceles Triangle 74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D0EA93E-BC73-3D61-7D6D-54DC329B3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931" y="287867"/>
            <a:ext cx="8640335" cy="117686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 err="1">
                <a:solidFill>
                  <a:schemeClr val="tx2"/>
                </a:solidFill>
                <a:latin typeface="Avenir Next LT Pro" panose="020B0504020202020204" pitchFamily="34" charset="0"/>
              </a:rPr>
              <a:t>Diagrama</a:t>
            </a:r>
            <a:r>
              <a:rPr lang="en-US" sz="48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de Casos de </a:t>
            </a:r>
            <a:r>
              <a:rPr lang="en-US" sz="4800" b="1" dirty="0" err="1">
                <a:solidFill>
                  <a:schemeClr val="tx2"/>
                </a:solidFill>
                <a:latin typeface="Avenir Next LT Pro" panose="020B0504020202020204" pitchFamily="34" charset="0"/>
              </a:rPr>
              <a:t>uso</a:t>
            </a:r>
            <a:endParaRPr lang="en-US" sz="4800" b="1" dirty="0">
              <a:solidFill>
                <a:schemeClr val="tx2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66EAB439-41EB-C8FE-ABD0-D0C2ADD13B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5292" y="2199742"/>
            <a:ext cx="9311028" cy="211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672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35">
            <a:extLst>
              <a:ext uri="{FF2B5EF4-FFF2-40B4-BE49-F238E27FC236}">
                <a16:creationId xmlns:a16="http://schemas.microsoft.com/office/drawing/2014/main" id="{4815A7B4-532E-48C9-AC24-D78ACF333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51" name="Freeform 14">
              <a:extLst>
                <a:ext uri="{FF2B5EF4-FFF2-40B4-BE49-F238E27FC236}">
                  <a16:creationId xmlns:a16="http://schemas.microsoft.com/office/drawing/2014/main" id="{D40109F4-CE5C-45F4-856E-F3F69C9FD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AA4DE-3D7B-460B-AE98-D9F9990C0B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BF1ED3E-4F80-4AF6-A41B-44F53DDE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C0B2D747-3E31-45C5-9A98-A9710A585F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A15FD4BA-3020-462D-8BE8-B3A65B8E4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4" name="Isosceles Triangle 41">
              <a:extLst>
                <a:ext uri="{FF2B5EF4-FFF2-40B4-BE49-F238E27FC236}">
                  <a16:creationId xmlns:a16="http://schemas.microsoft.com/office/drawing/2014/main" id="{A304284A-7318-4DD5-898C-2F6B23C77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5" name="Rectangle 27">
              <a:extLst>
                <a:ext uri="{FF2B5EF4-FFF2-40B4-BE49-F238E27FC236}">
                  <a16:creationId xmlns:a16="http://schemas.microsoft.com/office/drawing/2014/main" id="{9DF48E66-B635-4509-B115-E0987C01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6" name="Rectangle 28">
              <a:extLst>
                <a:ext uri="{FF2B5EF4-FFF2-40B4-BE49-F238E27FC236}">
                  <a16:creationId xmlns:a16="http://schemas.microsoft.com/office/drawing/2014/main" id="{E3B96D94-5F5A-4F4C-810C-917BF4D266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7" name="Rectangle 29">
              <a:extLst>
                <a:ext uri="{FF2B5EF4-FFF2-40B4-BE49-F238E27FC236}">
                  <a16:creationId xmlns:a16="http://schemas.microsoft.com/office/drawing/2014/main" id="{7F3782D6-BFF8-4389-9D39-A023ADAA92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58" name="Isosceles Triangle 45">
              <a:extLst>
                <a:ext uri="{FF2B5EF4-FFF2-40B4-BE49-F238E27FC236}">
                  <a16:creationId xmlns:a16="http://schemas.microsoft.com/office/drawing/2014/main" id="{ECE162D4-FCAE-441B-B5E9-C91DE6212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EF84CD1-DD15-6AC7-4FCD-5B061431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65" y="340291"/>
            <a:ext cx="8288032" cy="10963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b="1" dirty="0" err="1">
                <a:solidFill>
                  <a:schemeClr val="tx2"/>
                </a:solidFill>
                <a:latin typeface="Avenir Next LT Pro" panose="020B0504020202020204" pitchFamily="34" charset="0"/>
              </a:rPr>
              <a:t>Diagrama</a:t>
            </a:r>
            <a:r>
              <a:rPr lang="en-US" sz="48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de </a:t>
            </a:r>
            <a:r>
              <a:rPr lang="en-US" sz="4800" b="1" dirty="0" err="1">
                <a:solidFill>
                  <a:schemeClr val="tx2"/>
                </a:solidFill>
                <a:latin typeface="Avenir Next LT Pro" panose="020B0504020202020204" pitchFamily="34" charset="0"/>
              </a:rPr>
              <a:t>classe</a:t>
            </a:r>
            <a:r>
              <a:rPr lang="en-US" sz="4800" b="1" dirty="0">
                <a:solidFill>
                  <a:schemeClr val="tx2"/>
                </a:solidFill>
                <a:latin typeface="Avenir Next LT Pro" panose="020B0504020202020204" pitchFamily="34" charset="0"/>
              </a:rPr>
              <a:t> a 1km de </a:t>
            </a:r>
            <a:r>
              <a:rPr lang="en-US" sz="4800" b="1" dirty="0" err="1">
                <a:solidFill>
                  <a:schemeClr val="tx2"/>
                </a:solidFill>
                <a:latin typeface="Avenir Next LT Pro" panose="020B0504020202020204" pitchFamily="34" charset="0"/>
              </a:rPr>
              <a:t>distância</a:t>
            </a:r>
            <a:endParaRPr lang="en-US" sz="4800" b="1" dirty="0">
              <a:solidFill>
                <a:schemeClr val="tx2"/>
              </a:solidFill>
              <a:latin typeface="Avenir Next LT Pro" panose="020B05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764B33-6F50-9003-3DAA-701ECE3E2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980" y="1352612"/>
            <a:ext cx="5816601" cy="536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588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855</Words>
  <Application>Microsoft Office PowerPoint</Application>
  <PresentationFormat>Widescreen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Trebuchet MS</vt:lpstr>
      <vt:lpstr>Wingdings 3</vt:lpstr>
      <vt:lpstr>Facetado</vt:lpstr>
      <vt:lpstr>Sistema de Horas acadêmicas complementares</vt:lpstr>
      <vt:lpstr>5w2h Visão Geral</vt:lpstr>
      <vt:lpstr>5w2h Visão produto</vt:lpstr>
      <vt:lpstr>Brainstorm</vt:lpstr>
      <vt:lpstr>Brainstorm</vt:lpstr>
      <vt:lpstr> Mapa Mental</vt:lpstr>
      <vt:lpstr>Apresentação do PowerPoint</vt:lpstr>
      <vt:lpstr>Levantamento de Requisitos</vt:lpstr>
      <vt:lpstr>Casos de Uso</vt:lpstr>
      <vt:lpstr>Diagrama de Casos de uso</vt:lpstr>
      <vt:lpstr>Diagrama de classe a 1km de distância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 DE MENDONCA PECANHA</dc:creator>
  <cp:lastModifiedBy>MATEUS DE MENDONCA PECANHA</cp:lastModifiedBy>
  <cp:revision>1</cp:revision>
  <dcterms:created xsi:type="dcterms:W3CDTF">2026-04-11T13:18:40Z</dcterms:created>
  <dcterms:modified xsi:type="dcterms:W3CDTF">2026-04-11T14:28:29Z</dcterms:modified>
</cp:coreProperties>
</file>